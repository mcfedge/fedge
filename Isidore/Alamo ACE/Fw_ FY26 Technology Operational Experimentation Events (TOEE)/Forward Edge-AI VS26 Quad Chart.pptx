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7"/>
  </p:notesMasterIdLst>
  <p:handoutMasterIdLst>
    <p:handoutMasterId r:id="rId8"/>
  </p:handoutMasterIdLst>
  <p:sldIdLst>
    <p:sldId id="323" r:id="rId5"/>
    <p:sldId id="325" r:id="rId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24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FF99"/>
    <a:srgbClr val="FFFF66"/>
    <a:srgbClr val="00FF00"/>
    <a:srgbClr val="66FF6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9F5861-5948-083D-B9D9-0CE85139524E}" v="18" dt="2025-11-13T22:18:04.573"/>
    <p1510:client id="{8482A939-065B-F0AD-4D24-7100AD00E256}" v="42" dt="2025-11-13T22:41:16.605"/>
    <p1510:client id="{B2938BBB-2206-4200-81C3-94524E24C1DF}" v="7" dt="2025-11-12T23:34:45.454"/>
    <p1510:client id="{F56AFC3A-81FB-4C0D-950E-0C71A932AE58}" v="627" dt="2025-11-13T22:42:48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624"/>
        <p:guide pos="292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0DE0A5-3EE8-71CA-F300-2CD832ECE4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DCFD5-FB91-EB78-4028-AB2A657069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A26B39-CC95-4B97-ABB2-CCCF3D44B329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094B7-0C33-D78F-9C25-5E9AFAF246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B2952-822D-A39D-1CA6-2D3A2F13EE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7B06A87-2605-4425-B540-5AB482E7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19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43FD115E-2743-42BB-B965-D4D812AB6DF1}" type="datetimeFigureOut">
              <a:rPr lang="en-US"/>
              <a:pPr>
                <a:defRPr/>
              </a:pPr>
              <a:t>11/13/2025</a:t>
            </a:fld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FCCCC24-4F76-4E8F-855B-6B69FFDF8D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DC2228D-0BB2-47AF-81B7-3C5A317198C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E577E9-CF65-4ACE-B227-6A6E176007E1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6395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 userDrawn="1"/>
        </p:nvGrpSpPr>
        <p:grpSpPr bwMode="auto">
          <a:xfrm>
            <a:off x="111125" y="862013"/>
            <a:ext cx="8801100" cy="90487"/>
            <a:chOff x="471" y="690"/>
            <a:chExt cx="5016" cy="189"/>
          </a:xfrm>
        </p:grpSpPr>
        <p:grpSp>
          <p:nvGrpSpPr>
            <p:cNvPr id="1033" name="Group 3"/>
            <p:cNvGrpSpPr>
              <a:grpSpLocks/>
            </p:cNvGrpSpPr>
            <p:nvPr/>
          </p:nvGrpSpPr>
          <p:grpSpPr bwMode="auto">
            <a:xfrm>
              <a:off x="5369" y="690"/>
              <a:ext cx="118" cy="189"/>
              <a:chOff x="5369" y="690"/>
              <a:chExt cx="118" cy="189"/>
            </a:xfrm>
          </p:grpSpPr>
          <p:sp>
            <p:nvSpPr>
              <p:cNvPr id="1048" name="Rectangle 4"/>
              <p:cNvSpPr>
                <a:spLocks noChangeArrowheads="1"/>
              </p:cNvSpPr>
              <p:nvPr/>
            </p:nvSpPr>
            <p:spPr bwMode="auto">
              <a:xfrm>
                <a:off x="5459" y="690"/>
                <a:ext cx="2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9" name="Rectangle 5"/>
              <p:cNvSpPr>
                <a:spLocks noChangeArrowheads="1"/>
              </p:cNvSpPr>
              <p:nvPr/>
            </p:nvSpPr>
            <p:spPr bwMode="auto">
              <a:xfrm>
                <a:off x="5369" y="690"/>
                <a:ext cx="57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4" name="Group 6"/>
            <p:cNvGrpSpPr>
              <a:grpSpLocks/>
            </p:cNvGrpSpPr>
            <p:nvPr/>
          </p:nvGrpSpPr>
          <p:grpSpPr bwMode="auto">
            <a:xfrm>
              <a:off x="5074" y="690"/>
              <a:ext cx="251" cy="189"/>
              <a:chOff x="5074" y="690"/>
              <a:chExt cx="251" cy="189"/>
            </a:xfrm>
          </p:grpSpPr>
          <p:sp>
            <p:nvSpPr>
              <p:cNvPr id="1046" name="Rectangle 7"/>
              <p:cNvSpPr>
                <a:spLocks noChangeArrowheads="1"/>
              </p:cNvSpPr>
              <p:nvPr/>
            </p:nvSpPr>
            <p:spPr bwMode="auto">
              <a:xfrm>
                <a:off x="5236" y="690"/>
                <a:ext cx="89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7" name="Rectangle 8"/>
              <p:cNvSpPr>
                <a:spLocks noChangeArrowheads="1"/>
              </p:cNvSpPr>
              <p:nvPr/>
            </p:nvSpPr>
            <p:spPr bwMode="auto">
              <a:xfrm>
                <a:off x="5074" y="690"/>
                <a:ext cx="119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5" name="Group 9"/>
            <p:cNvGrpSpPr>
              <a:grpSpLocks/>
            </p:cNvGrpSpPr>
            <p:nvPr/>
          </p:nvGrpSpPr>
          <p:grpSpPr bwMode="auto">
            <a:xfrm>
              <a:off x="4667" y="690"/>
              <a:ext cx="367" cy="189"/>
              <a:chOff x="4667" y="690"/>
              <a:chExt cx="367" cy="189"/>
            </a:xfrm>
          </p:grpSpPr>
          <p:sp>
            <p:nvSpPr>
              <p:cNvPr id="1044" name="Rectangle 10"/>
              <p:cNvSpPr>
                <a:spLocks noChangeArrowheads="1"/>
              </p:cNvSpPr>
              <p:nvPr/>
            </p:nvSpPr>
            <p:spPr bwMode="auto">
              <a:xfrm>
                <a:off x="4887" y="690"/>
                <a:ext cx="147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5" name="Rectangle 11"/>
              <p:cNvSpPr>
                <a:spLocks noChangeArrowheads="1"/>
              </p:cNvSpPr>
              <p:nvPr/>
            </p:nvSpPr>
            <p:spPr bwMode="auto">
              <a:xfrm>
                <a:off x="4667" y="690"/>
                <a:ext cx="176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6" name="Group 12"/>
            <p:cNvGrpSpPr>
              <a:grpSpLocks/>
            </p:cNvGrpSpPr>
            <p:nvPr/>
          </p:nvGrpSpPr>
          <p:grpSpPr bwMode="auto">
            <a:xfrm>
              <a:off x="3494" y="690"/>
              <a:ext cx="1131" cy="189"/>
              <a:chOff x="3494" y="690"/>
              <a:chExt cx="1131" cy="189"/>
            </a:xfrm>
          </p:grpSpPr>
          <p:sp>
            <p:nvSpPr>
              <p:cNvPr id="1040" name="Rectangle 13"/>
              <p:cNvSpPr>
                <a:spLocks noChangeArrowheads="1"/>
              </p:cNvSpPr>
              <p:nvPr/>
            </p:nvSpPr>
            <p:spPr bwMode="auto">
              <a:xfrm>
                <a:off x="3848" y="690"/>
                <a:ext cx="23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1" name="Rectangle 14"/>
              <p:cNvSpPr>
                <a:spLocks noChangeArrowheads="1"/>
              </p:cNvSpPr>
              <p:nvPr/>
            </p:nvSpPr>
            <p:spPr bwMode="auto">
              <a:xfrm>
                <a:off x="4417" y="690"/>
                <a:ext cx="20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2" name="Rectangle 15"/>
              <p:cNvSpPr>
                <a:spLocks noChangeArrowheads="1"/>
              </p:cNvSpPr>
              <p:nvPr/>
            </p:nvSpPr>
            <p:spPr bwMode="auto">
              <a:xfrm>
                <a:off x="4140" y="690"/>
                <a:ext cx="23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3" name="Rectangle 16"/>
              <p:cNvSpPr>
                <a:spLocks noChangeArrowheads="1"/>
              </p:cNvSpPr>
              <p:nvPr/>
            </p:nvSpPr>
            <p:spPr bwMode="auto">
              <a:xfrm>
                <a:off x="3494" y="690"/>
                <a:ext cx="29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7" name="Group 17"/>
            <p:cNvGrpSpPr>
              <a:grpSpLocks/>
            </p:cNvGrpSpPr>
            <p:nvPr/>
          </p:nvGrpSpPr>
          <p:grpSpPr bwMode="auto">
            <a:xfrm>
              <a:off x="471" y="690"/>
              <a:ext cx="2985" cy="189"/>
              <a:chOff x="471" y="690"/>
              <a:chExt cx="2985" cy="189"/>
            </a:xfrm>
          </p:grpSpPr>
          <p:sp>
            <p:nvSpPr>
              <p:cNvPr id="1038" name="Rectangle 18"/>
              <p:cNvSpPr>
                <a:spLocks noChangeArrowheads="1"/>
              </p:cNvSpPr>
              <p:nvPr/>
            </p:nvSpPr>
            <p:spPr bwMode="auto">
              <a:xfrm>
                <a:off x="3126" y="690"/>
                <a:ext cx="32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39" name="Rectangle 19"/>
              <p:cNvSpPr>
                <a:spLocks noChangeArrowheads="1"/>
              </p:cNvSpPr>
              <p:nvPr/>
            </p:nvSpPr>
            <p:spPr bwMode="auto">
              <a:xfrm>
                <a:off x="471" y="690"/>
                <a:ext cx="2617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</p:grpSp>
      <p:sp>
        <p:nvSpPr>
          <p:cNvPr id="1027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774700" y="257175"/>
            <a:ext cx="77724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1775" y="1111250"/>
            <a:ext cx="8680450" cy="529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5382" name="Rectangle 2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55038" y="6432550"/>
            <a:ext cx="588962" cy="4254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45720" tIns="46038" rIns="45720" bIns="46038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defRPr sz="2800" b="1">
                <a:latin typeface="Arial Narrow" panose="020B0606020202030204" pitchFamily="34" charset="0"/>
              </a:defRPr>
            </a:lvl1pPr>
          </a:lstStyle>
          <a:p>
            <a:fld id="{11C44B74-F50D-483A-99CB-8A3D7FFC0A8F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  <p:grpSp>
        <p:nvGrpSpPr>
          <p:cNvPr id="1030" name="Group 23"/>
          <p:cNvGrpSpPr>
            <a:grpSpLocks/>
          </p:cNvGrpSpPr>
          <p:nvPr userDrawn="1"/>
        </p:nvGrpSpPr>
        <p:grpSpPr bwMode="auto">
          <a:xfrm>
            <a:off x="15875" y="0"/>
            <a:ext cx="822325" cy="822325"/>
            <a:chOff x="10" y="133"/>
            <a:chExt cx="518" cy="518"/>
          </a:xfrm>
        </p:grpSpPr>
        <p:sp>
          <p:nvSpPr>
            <p:cNvPr id="1031" name="Oval 24"/>
            <p:cNvSpPr>
              <a:spLocks noChangeArrowheads="1"/>
            </p:cNvSpPr>
            <p:nvPr userDrawn="1"/>
          </p:nvSpPr>
          <p:spPr bwMode="auto">
            <a:xfrm>
              <a:off x="10" y="133"/>
              <a:ext cx="518" cy="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pic>
          <p:nvPicPr>
            <p:cNvPr id="1032" name="Picture 2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0" y="180"/>
              <a:ext cx="461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7013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2"/>
          <p:cNvSpPr txBox="1">
            <a:spLocks noChangeArrowheads="1"/>
          </p:cNvSpPr>
          <p:nvPr/>
        </p:nvSpPr>
        <p:spPr bwMode="auto">
          <a:xfrm>
            <a:off x="3841986" y="-73654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rgbClr val="339933"/>
                </a:solidFill>
              </a:rPr>
              <a:t>UNCLASSIFIED</a:t>
            </a:r>
          </a:p>
        </p:txBody>
      </p:sp>
      <p:sp>
        <p:nvSpPr>
          <p:cNvPr id="3076" name="Line 3"/>
          <p:cNvSpPr>
            <a:spLocks noChangeShapeType="1"/>
          </p:cNvSpPr>
          <p:nvPr/>
        </p:nvSpPr>
        <p:spPr bwMode="auto">
          <a:xfrm>
            <a:off x="4591050" y="1066800"/>
            <a:ext cx="0" cy="548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Line 4"/>
          <p:cNvSpPr>
            <a:spLocks noChangeShapeType="1"/>
          </p:cNvSpPr>
          <p:nvPr/>
        </p:nvSpPr>
        <p:spPr bwMode="auto">
          <a:xfrm>
            <a:off x="587881" y="34290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990600"/>
            <a:ext cx="45720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1600"/>
              <a:t>(U) Description: </a:t>
            </a:r>
            <a:r>
              <a:rPr sz="1600" b="0"/>
              <a:t>Validate post-quantum encryption platform for </a:t>
            </a:r>
            <a:r>
              <a:rPr lang="en-US" sz="1600" b="0"/>
              <a:t>naval</a:t>
            </a:r>
            <a:r>
              <a:rPr sz="1600" b="0"/>
              <a:t> operations</a:t>
            </a:r>
            <a:r>
              <a:rPr lang="en-US" sz="1600" b="0"/>
              <a:t> across various communications systems.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br>
              <a:rPr sz="1600"/>
            </a:br>
            <a:r>
              <a:rPr sz="1600"/>
              <a:t>(U) Objective:</a:t>
            </a:r>
            <a:r>
              <a:rPr lang="en-US" sz="1600"/>
              <a:t> </a:t>
            </a:r>
            <a:r>
              <a:rPr lang="en-US" sz="1600" b="0"/>
              <a:t>Demonstrate and validate a quantum-resilient cybersecurity and communication architecture in an operational naval environment, showcasing resilience against future quantum-enabled adversaries.</a:t>
            </a:r>
            <a:endParaRPr sz="1600" b="0"/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0" y="3524250"/>
            <a:ext cx="4322762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sz="1600">
                <a:latin typeface="Arial"/>
                <a:cs typeface="Times New Roman"/>
              </a:rPr>
              <a:t>(U) Availability date: </a:t>
            </a:r>
            <a:r>
              <a:rPr lang="en-US" sz="1600" b="0">
                <a:latin typeface="Arial"/>
                <a:cs typeface="Times New Roman"/>
              </a:rPr>
              <a:t>Q2 2026 </a:t>
            </a:r>
            <a:r>
              <a:rPr lang="en-US" sz="1600" b="0" dirty="0">
                <a:latin typeface="Arial"/>
                <a:cs typeface="Times New Roman"/>
              </a:rPr>
              <a:t>for e</a:t>
            </a:r>
            <a:r>
              <a:rPr lang="en-US" sz="1600" b="0">
                <a:latin typeface="Arial"/>
                <a:cs typeface="Times New Roman"/>
              </a:rPr>
              <a:t>xercise execution </a:t>
            </a:r>
            <a:r>
              <a:rPr lang="en-US" sz="1600" b="0" dirty="0">
                <a:latin typeface="Arial"/>
                <a:cs typeface="Times New Roman"/>
              </a:rPr>
              <a:t>in </a:t>
            </a:r>
            <a:r>
              <a:rPr lang="en-US" sz="1600" b="0">
                <a:latin typeface="Arial"/>
                <a:cs typeface="Times New Roman"/>
              </a:rPr>
              <a:t>JUN 2026</a:t>
            </a:r>
            <a:br>
              <a:rPr sz="1600" b="0" dirty="0"/>
            </a:br>
            <a:br>
              <a:rPr sz="1600" dirty="0"/>
            </a:br>
            <a:r>
              <a:rPr lang="en-US" sz="1600">
                <a:latin typeface="Arial"/>
                <a:cs typeface="Times New Roman"/>
              </a:rPr>
              <a:t>(U) Program risks / impact: </a:t>
            </a:r>
            <a:r>
              <a:rPr lang="en-US" sz="1600" b="0">
                <a:latin typeface="Arial"/>
                <a:cs typeface="Times New Roman"/>
              </a:rPr>
              <a:t>Minimal - drop-in design, autonomous post-deployment. Early validation supports Navy modernization priorities.</a:t>
            </a:r>
            <a:br>
              <a:rPr sz="1600" b="0" dirty="0"/>
            </a:br>
            <a:br>
              <a:rPr sz="1600" dirty="0"/>
            </a:br>
            <a:r>
              <a:rPr lang="en-US" sz="1600">
                <a:latin typeface="Arial"/>
                <a:cs typeface="Times New Roman"/>
              </a:rPr>
              <a:t>(U) Geographical domain</a:t>
            </a:r>
            <a:r>
              <a:rPr lang="en-US" sz="1600" b="0">
                <a:latin typeface="Arial"/>
                <a:cs typeface="Times New Roman"/>
              </a:rPr>
              <a:t>: Maritim</a:t>
            </a:r>
            <a:r>
              <a:rPr lang="en-US" sz="1600" b="0" dirty="0">
                <a:latin typeface="Arial"/>
                <a:cs typeface="Times New Roman"/>
              </a:rPr>
              <a:t>e, ship to shore</a:t>
            </a:r>
            <a:r>
              <a:rPr lang="en-US" sz="1600" b="0">
                <a:latin typeface="Arial"/>
                <a:cs typeface="Times New Roman"/>
              </a:rPr>
              <a:t> (vessels, ports, </a:t>
            </a:r>
            <a:r>
              <a:rPr lang="en-US" sz="1600" b="0" dirty="0">
                <a:latin typeface="Arial"/>
                <a:cs typeface="Times New Roman"/>
              </a:rPr>
              <a:t>comms</a:t>
            </a:r>
            <a:r>
              <a:rPr lang="en-US" sz="1600" b="0">
                <a:latin typeface="Arial"/>
                <a:cs typeface="Times New Roman"/>
              </a:rPr>
              <a:t> links)</a:t>
            </a:r>
            <a:br>
              <a:rPr sz="1600" b="0" dirty="0"/>
            </a:br>
            <a:br>
              <a:rPr sz="1600" dirty="0"/>
            </a:br>
            <a:r>
              <a:rPr lang="en-US" sz="1600">
                <a:latin typeface="Arial"/>
                <a:cs typeface="Times New Roman"/>
              </a:rPr>
              <a:t>(U) Recommended host unit: </a:t>
            </a:r>
            <a:r>
              <a:rPr lang="en-US" sz="1600" b="0">
                <a:latin typeface="Arial"/>
                <a:cs typeface="Times New Roman"/>
              </a:rPr>
              <a:t>PACFLT operational assets</a:t>
            </a:r>
          </a:p>
        </p:txBody>
      </p:sp>
      <p:sp>
        <p:nvSpPr>
          <p:cNvPr id="3080" name="Text Box 6"/>
          <p:cNvSpPr txBox="1">
            <a:spLocks noChangeArrowheads="1"/>
          </p:cNvSpPr>
          <p:nvPr/>
        </p:nvSpPr>
        <p:spPr bwMode="auto">
          <a:xfrm>
            <a:off x="4648200" y="3524250"/>
            <a:ext cx="434975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1600"/>
              <a:t>(U) Experimentation sponsor: </a:t>
            </a:r>
            <a:r>
              <a:rPr sz="1600" b="0"/>
              <a:t>United States Pacific Fleet (PACFLT). Supporting: USINDOPACOM J81 JEESC, </a:t>
            </a:r>
            <a:r>
              <a:rPr lang="en-US" sz="1600" b="0"/>
              <a:t>NAVAIR</a:t>
            </a:r>
            <a:br>
              <a:rPr sz="1600" b="0"/>
            </a:br>
            <a:br>
              <a:rPr sz="1600"/>
            </a:br>
            <a:r>
              <a:rPr sz="1600"/>
              <a:t>(U) Funding status: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sz="1600" b="0"/>
              <a:t>Forward Edge-AI </a:t>
            </a:r>
            <a:r>
              <a:rPr lang="en-US" sz="1600" b="0"/>
              <a:t>(Self) </a:t>
            </a:r>
            <a:r>
              <a:rPr sz="1600" b="0"/>
              <a:t>funded</a:t>
            </a:r>
            <a:r>
              <a:rPr lang="en-US" sz="1600" b="0"/>
              <a:t> </a:t>
            </a:r>
            <a:br>
              <a:rPr sz="1600"/>
            </a:br>
            <a:br>
              <a:rPr sz="1600"/>
            </a:br>
            <a:r>
              <a:rPr sz="1600"/>
              <a:t>(U) POC:</a:t>
            </a:r>
            <a:endParaRPr lang="en-US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600" b="0"/>
              <a:t>Brandon Chapman -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sz="1600" b="0"/>
              <a:t>Brandon@forwardedge.ai</a:t>
            </a:r>
          </a:p>
        </p:txBody>
      </p:sp>
      <p:sp>
        <p:nvSpPr>
          <p:cNvPr id="3081" name="TextBox 13"/>
          <p:cNvSpPr txBox="1">
            <a:spLocks noChangeArrowheads="1"/>
          </p:cNvSpPr>
          <p:nvPr/>
        </p:nvSpPr>
        <p:spPr bwMode="auto">
          <a:xfrm>
            <a:off x="1143000" y="139482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2000" b="1"/>
              <a:t>(U) Quantum-Safe Maritime Cybersecurity - Isidore Quantum®</a:t>
            </a:r>
          </a:p>
        </p:txBody>
      </p:sp>
      <p:sp>
        <p:nvSpPr>
          <p:cNvPr id="3082" name="AutoShape 16" descr="https://webmail.afmc.af.mil/Exchange/Michael.Wagner2@WPAFB.AF.MIL/Inbox/Photo%27s%20%26%20Materials%20from%20Today.EML/1_multipart/1_multipart/image001.jpg?Security=2"/>
          <p:cNvSpPr>
            <a:spLocks noChangeAspect="1" noChangeArrowheads="1"/>
          </p:cNvSpPr>
          <p:nvPr/>
        </p:nvSpPr>
        <p:spPr bwMode="auto">
          <a:xfrm>
            <a:off x="34925" y="-76200"/>
            <a:ext cx="54102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3083" name="AutoShape 18" descr="https://webmail.afmc.af.mil/Exchange/Michael.Wagner2@WPAFB.AF.MIL/Inbox/Photo%27s%20%26%20Materials%20from%20Today.EML/1_multipart/1_multipart/image001.jpg?Security=2"/>
          <p:cNvSpPr>
            <a:spLocks noChangeAspect="1" noChangeArrowheads="1"/>
          </p:cNvSpPr>
          <p:nvPr/>
        </p:nvSpPr>
        <p:spPr bwMode="auto">
          <a:xfrm>
            <a:off x="127000" y="-2163763"/>
            <a:ext cx="5410200" cy="451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841986" y="6682848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rgbClr val="339933"/>
                </a:solidFill>
              </a:rPr>
              <a:t>UNCLASSIFIED</a:t>
            </a:r>
          </a:p>
        </p:txBody>
      </p:sp>
      <p:pic>
        <p:nvPicPr>
          <p:cNvPr id="3" name="Picture 2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B540D761-6F77-8CF8-2D61-40EC6EB24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777" y="1267784"/>
            <a:ext cx="4213725" cy="1652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0" y="3429000"/>
            <a:ext cx="42672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sz="1600"/>
              <a:t>Deployment:</a:t>
            </a:r>
            <a:r>
              <a:rPr lang="en-US" sz="1600"/>
              <a:t> </a:t>
            </a:r>
            <a:r>
              <a:rPr sz="1600" b="0"/>
              <a:t>2+ operational naval vessels, </a:t>
            </a:r>
            <a:r>
              <a:rPr lang="en-US" sz="1600" b="0"/>
              <a:t>one</a:t>
            </a:r>
            <a:r>
              <a:rPr sz="1600" b="0"/>
              <a:t> </a:t>
            </a:r>
            <a:r>
              <a:rPr lang="en-US" sz="1600" b="0"/>
              <a:t>shore</a:t>
            </a:r>
            <a:r>
              <a:rPr sz="1600" b="0"/>
              <a:t> facility, </a:t>
            </a:r>
            <a:r>
              <a:rPr lang="en-US" sz="1600" b="0"/>
              <a:t>one</a:t>
            </a:r>
            <a:r>
              <a:rPr sz="1600" b="0"/>
              <a:t> </a:t>
            </a:r>
            <a:r>
              <a:rPr lang="en-US" sz="1600" b="0"/>
              <a:t>comms</a:t>
            </a:r>
            <a:r>
              <a:rPr sz="1600" b="0"/>
              <a:t> gateway.</a:t>
            </a:r>
            <a:endParaRPr lang="en-US" sz="1600" b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600" b="0"/>
              <a:t>One Isidore unit and one FEAI team member will be located at the first site and one Isidore unit and one FEAI team member will be located at another.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600"/>
              <a:t>Other Concerns: </a:t>
            </a:r>
            <a:r>
              <a:rPr lang="en-US" sz="1600" b="0"/>
              <a:t>None</a:t>
            </a:r>
            <a:endParaRPr sz="1600"/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648200" y="3429000"/>
            <a:ext cx="4343400" cy="29238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sz="1600">
                <a:latin typeface="Arial"/>
                <a:cs typeface="Times New Roman"/>
              </a:rPr>
              <a:t>(U) Host component / unit support requested:</a:t>
            </a:r>
            <a:r>
              <a:rPr lang="en-US" sz="1600">
                <a:latin typeface="Arial"/>
                <a:cs typeface="Times New Roman"/>
              </a:rPr>
              <a:t> </a:t>
            </a:r>
            <a:r>
              <a:rPr lang="en-US" sz="1600" b="0">
                <a:latin typeface="Arial"/>
                <a:cs typeface="Times New Roman"/>
              </a:rPr>
              <a:t>Communications equipment access across ship and shore assets, o</a:t>
            </a:r>
            <a:r>
              <a:rPr sz="1600" b="0">
                <a:latin typeface="Arial"/>
                <a:cs typeface="Times New Roman"/>
              </a:rPr>
              <a:t>bserver</a:t>
            </a:r>
            <a:r>
              <a:rPr lang="en-US" sz="1600" b="0">
                <a:latin typeface="Arial"/>
                <a:cs typeface="Times New Roman"/>
              </a:rPr>
              <a:t>s </a:t>
            </a:r>
            <a:r>
              <a:rPr sz="1600" b="0">
                <a:latin typeface="Arial"/>
                <a:cs typeface="Times New Roman"/>
              </a:rPr>
              <a:t>(cybersecurity SMEs, command staff,</a:t>
            </a:r>
            <a:r>
              <a:rPr lang="en-US" sz="1600" b="0">
                <a:latin typeface="Arial"/>
                <a:cs typeface="Times New Roman"/>
              </a:rPr>
              <a:t> and</a:t>
            </a:r>
            <a:r>
              <a:rPr sz="1600" b="0">
                <a:latin typeface="Arial"/>
                <a:cs typeface="Times New Roman"/>
              </a:rPr>
              <a:t> logistics personnel)</a:t>
            </a:r>
            <a:endParaRPr lang="en-US"/>
          </a:p>
          <a:p>
            <a:pPr>
              <a:spcBef>
                <a:spcPct val="50000"/>
              </a:spcBef>
              <a:buNone/>
            </a:pPr>
            <a:endParaRPr lang="en-US" sz="1600">
              <a:highlight>
                <a:srgbClr val="FFFF00"/>
              </a:highlight>
              <a:latin typeface="Arial"/>
              <a:cs typeface="Times New Roman"/>
            </a:endParaRPr>
          </a:p>
          <a:p>
            <a:pPr>
              <a:spcBef>
                <a:spcPct val="50000"/>
              </a:spcBef>
              <a:buNone/>
            </a:pPr>
            <a:r>
              <a:rPr lang="en-US" sz="1600">
                <a:latin typeface="Arial"/>
                <a:cs typeface="Times New Roman"/>
              </a:rPr>
              <a:t>Logistics support required: </a:t>
            </a:r>
            <a:r>
              <a:rPr lang="en-US" sz="1600" b="0">
                <a:latin typeface="Arial"/>
                <a:cs typeface="Arial"/>
              </a:rPr>
              <a:t>Power, network accessibility, and network integration support. Standard outlets for power, </a:t>
            </a:r>
            <a:endParaRPr lang="en-US"/>
          </a:p>
          <a:p>
            <a:pPr>
              <a:spcBef>
                <a:spcPct val="50000"/>
              </a:spcBef>
              <a:buFontTx/>
              <a:buNone/>
            </a:pPr>
            <a:endParaRPr lang="en-US" sz="1600" b="0">
              <a:highlight>
                <a:srgbClr val="FFFF00"/>
              </a:highlight>
              <a:latin typeface="Arial"/>
              <a:cs typeface="Times New Roman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4648200" y="990600"/>
            <a:ext cx="43434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sz="1600"/>
              <a:t>(U) Exercise considerations:</a:t>
            </a:r>
            <a:r>
              <a:rPr lang="en-US" sz="1600"/>
              <a:t> </a:t>
            </a:r>
            <a:r>
              <a:rPr lang="en-US" sz="1600" b="0"/>
              <a:t>Isidore Quantum is FIPS 140-3 compliant and can operate on any network but is not currently high assurance certified. Minimal integration concerns. </a:t>
            </a:r>
            <a:br>
              <a:rPr sz="1600"/>
            </a:br>
            <a:r>
              <a:rPr sz="1600"/>
              <a:t>(U) Required Exercise events:</a:t>
            </a:r>
            <a:r>
              <a:rPr lang="en-US" sz="1600"/>
              <a:t> </a:t>
            </a:r>
            <a:r>
              <a:rPr sz="1600" b="0"/>
              <a:t>Operational vessel underway</a:t>
            </a:r>
            <a:r>
              <a:rPr lang="en-US" sz="1600" b="0"/>
              <a:t>,</a:t>
            </a:r>
            <a:r>
              <a:rPr sz="1600" b="0"/>
              <a:t> </a:t>
            </a:r>
            <a:r>
              <a:rPr lang="en-US" sz="1600" b="0"/>
              <a:t>shore </a:t>
            </a:r>
            <a:r>
              <a:rPr sz="1600" b="0"/>
              <a:t>operations; communication exercises.</a:t>
            </a:r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0" y="990600"/>
            <a:ext cx="42672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sz="1600" dirty="0">
                <a:latin typeface="Arial"/>
                <a:cs typeface="Times New Roman"/>
              </a:rPr>
              <a:t>(U) Personnel / equipment list:</a:t>
            </a:r>
            <a:r>
              <a:rPr lang="en-US" sz="1600" dirty="0">
                <a:latin typeface="Arial"/>
                <a:cs typeface="Times New Roman"/>
              </a:rPr>
              <a:t> </a:t>
            </a:r>
            <a:r>
              <a:rPr sz="1600" b="0" dirty="0">
                <a:latin typeface="Arial"/>
                <a:cs typeface="Times New Roman"/>
              </a:rPr>
              <a:t>Forward Edge-AI integration team (2-3), Naval IT personnel (4-5), Observers (</a:t>
            </a:r>
            <a:r>
              <a:rPr lang="en-US" sz="1600" b="0" dirty="0">
                <a:latin typeface="Arial"/>
                <a:cs typeface="Times New Roman"/>
              </a:rPr>
              <a:t>1-2</a:t>
            </a:r>
            <a:r>
              <a:rPr sz="1600" b="0" dirty="0">
                <a:latin typeface="Arial"/>
                <a:cs typeface="Times New Roman"/>
              </a:rPr>
              <a:t>).</a:t>
            </a:r>
            <a:r>
              <a:rPr lang="en-US" sz="1600" b="0" dirty="0">
                <a:latin typeface="Arial"/>
                <a:cs typeface="Times New Roman"/>
              </a:rPr>
              <a:t> </a:t>
            </a:r>
            <a:r>
              <a:rPr sz="1600" b="0" dirty="0">
                <a:latin typeface="Arial"/>
                <a:cs typeface="Times New Roman"/>
              </a:rPr>
              <a:t>Isidore Quantum units</a:t>
            </a:r>
            <a:r>
              <a:rPr lang="en-US" sz="1600" b="0" dirty="0">
                <a:latin typeface="Arial"/>
                <a:cs typeface="Times New Roman"/>
              </a:rPr>
              <a:t>(4-6) are available to support various operations as needed. Forward Ege-AI will bring: 8-port switch(1), Laptops(2), Ethernet cables, and 5-volt PSUs(4).</a:t>
            </a:r>
            <a:endParaRPr lang="en-US" altLang="en-US" sz="1600" b="0" dirty="0">
              <a:latin typeface="Arial"/>
              <a:cs typeface="Times New Roman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841986" y="-73654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rgbClr val="339933"/>
                </a:solidFill>
              </a:rPr>
              <a:t>UNCLASSIFIED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841986" y="6682848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>
                <a:solidFill>
                  <a:srgbClr val="339933"/>
                </a:solidFill>
              </a:rPr>
              <a:t>UNCLASSIFIED</a:t>
            </a:r>
          </a:p>
        </p:txBody>
      </p:sp>
      <p:sp>
        <p:nvSpPr>
          <p:cNvPr id="14" name="Line 3"/>
          <p:cNvSpPr>
            <a:spLocks noChangeShapeType="1"/>
          </p:cNvSpPr>
          <p:nvPr/>
        </p:nvSpPr>
        <p:spPr bwMode="auto">
          <a:xfrm>
            <a:off x="4591050" y="1066800"/>
            <a:ext cx="0" cy="548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4"/>
          <p:cNvSpPr>
            <a:spLocks noChangeShapeType="1"/>
          </p:cNvSpPr>
          <p:nvPr/>
        </p:nvSpPr>
        <p:spPr bwMode="auto">
          <a:xfrm>
            <a:off x="587881" y="34290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3">
            <a:extLst>
              <a:ext uri="{FF2B5EF4-FFF2-40B4-BE49-F238E27FC236}">
                <a16:creationId xmlns:a16="http://schemas.microsoft.com/office/drawing/2014/main" id="{0ECD8AF6-447B-0AF3-2DB7-331DCE0AC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9482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2000" b="1"/>
              <a:t>(U) Quantum-Safe Maritime Cybersecurity - Isidore Quantum®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CC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2DB9"/>
      </a:accent6>
      <a:hlink>
        <a:srgbClr val="0066FF"/>
      </a:hlink>
      <a:folHlink>
        <a:srgbClr val="9933FF"/>
      </a:folHlink>
    </a:clrScheme>
    <a:fontScheme name="1_Default Design">
      <a:majorFont>
        <a:latin typeface="Arial"/>
        <a:ea typeface=""/>
        <a:cs typeface="Times New Roman"/>
      </a:majorFont>
      <a:minorFont>
        <a:latin typeface="Arial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CC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ADE2"/>
        </a:accent5>
        <a:accent6>
          <a:srgbClr val="2D2DB9"/>
        </a:accent6>
        <a:hlink>
          <a:srgbClr val="0066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95E6504B3ED643A65A84F4D1083CD0" ma:contentTypeVersion="16" ma:contentTypeDescription="Create a new document." ma:contentTypeScope="" ma:versionID="3773e35d476b1eb7c14543b3c1f3d68e">
  <xsd:schema xmlns:xsd="http://www.w3.org/2001/XMLSchema" xmlns:xs="http://www.w3.org/2001/XMLSchema" xmlns:p="http://schemas.microsoft.com/office/2006/metadata/properties" xmlns:ns3="35b9dc04-789e-4307-9dee-1d551e234e24" xmlns:ns4="6f81de39-edad-4716-8a3e-a542477e6317" targetNamespace="http://schemas.microsoft.com/office/2006/metadata/properties" ma:root="true" ma:fieldsID="cce535fddc60042f233b9669af660ce7" ns3:_="" ns4:_="">
    <xsd:import namespace="35b9dc04-789e-4307-9dee-1d551e234e24"/>
    <xsd:import namespace="6f81de39-edad-4716-8a3e-a542477e631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b9dc04-789e-4307-9dee-1d551e234e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81de39-edad-4716-8a3e-a542477e631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5b9dc04-789e-4307-9dee-1d551e234e24" xsi:nil="true"/>
  </documentManagement>
</p:properties>
</file>

<file path=customXml/itemProps1.xml><?xml version="1.0" encoding="utf-8"?>
<ds:datastoreItem xmlns:ds="http://schemas.openxmlformats.org/officeDocument/2006/customXml" ds:itemID="{C84D32C6-27F0-417A-A0E0-4CF12D4D3F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9AD8E8-CE3E-471E-915B-5DB4A683E046}">
  <ds:schemaRefs>
    <ds:schemaRef ds:uri="35b9dc04-789e-4307-9dee-1d551e234e24"/>
    <ds:schemaRef ds:uri="6f81de39-edad-4716-8a3e-a542477e63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455A2C9-CD36-4FCC-A5E3-933FE7B1DAA3}">
  <ds:schemaRefs>
    <ds:schemaRef ds:uri="35b9dc04-789e-4307-9dee-1d551e234e24"/>
    <ds:schemaRef ds:uri="6f81de39-edad-4716-8a3e-a542477e63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1_Default Design</vt:lpstr>
      <vt:lpstr>PowerPoint Presentation</vt:lpstr>
      <vt:lpstr>PowerPoint Presentation</vt:lpstr>
    </vt:vector>
  </TitlesOfParts>
  <Company>MEC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CG08 Experimentation Workshop Working Groups</dc:title>
  <dc:creator>Bill Spicer</dc:creator>
  <cp:revision>18</cp:revision>
  <cp:lastPrinted>2025-07-03T19:53:56Z</cp:lastPrinted>
  <dcterms:created xsi:type="dcterms:W3CDTF">2007-10-03T18:31:48Z</dcterms:created>
  <dcterms:modified xsi:type="dcterms:W3CDTF">2025-11-13T22:43:59Z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0x0101001795E6504B3ED643A65A84F4D1083CD0</vt:lpwstr>
  </property>
</Properties>
</file>