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09359218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Accelerating tagline"/>
          <p:cNvSpPr txBox="1"/>
          <p:nvPr userDrawn="1"/>
        </p:nvSpPr>
        <p:spPr>
          <a:xfrm>
            <a:off x="5952565" y="5806440"/>
            <a:ext cx="587367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i="1">
                <a:solidFill>
                  <a:srgbClr val="0070C0"/>
                </a:solidFill>
                <a:effectLst/>
              </a:rPr>
              <a:t>ACCELERATING TO THE NAVY &amp; MARINE CORPS AFTER NEXT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2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4286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68573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02860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37147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-16724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7030A0"/>
                </a:solidFill>
                <a:latin typeface="+mn-lt"/>
              </a:rPr>
              <a:t>CUI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0859" y="138048"/>
            <a:ext cx="2181141" cy="97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72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1" y="1143000"/>
            <a:ext cx="6502400" cy="51816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8327136" y="1905000"/>
            <a:ext cx="3255264" cy="365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79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70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0"/>
            <a:ext cx="61341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70EB34-4CD2-4DC7-9523-1354D7894834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85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854399-4BF3-F772-A9EB-67E45F3A70DE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37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4CC143-9011-C591-7CCE-41E315B1B341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99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1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5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91431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371477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828637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991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481002"/>
            <a:ext cx="812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2540000" y="6481001"/>
            <a:ext cx="711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</a:rPr>
              <a:t>DISTRIBUTION D. Distribution authorized to Department of Defense and U.S. DoD contractors only (Critical Technology). Other request for this document shall be referred to ONR</a:t>
            </a:r>
            <a:r>
              <a:rPr lang="en-US" sz="1000" baseline="0">
                <a:solidFill>
                  <a:schemeClr val="tx1"/>
                </a:solidFill>
              </a:rPr>
              <a:t> Global</a:t>
            </a:r>
            <a:r>
              <a:rPr lang="en-US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 rot="16200000" flipH="1">
            <a:off x="3390900" y="3695700"/>
            <a:ext cx="5410200" cy="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Line 20"/>
          <p:cNvSpPr>
            <a:spLocks noChangeShapeType="1"/>
          </p:cNvSpPr>
          <p:nvPr userDrawn="1"/>
        </p:nvSpPr>
        <p:spPr bwMode="auto">
          <a:xfrm rot="16200000" flipV="1">
            <a:off x="5994401" y="-1855142"/>
            <a:ext cx="0" cy="1148080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4A9901-07BD-993A-9818-D117B0E7BC56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398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Accelerating tagline"/>
          <p:cNvSpPr txBox="1"/>
          <p:nvPr userDrawn="1"/>
        </p:nvSpPr>
        <p:spPr>
          <a:xfrm>
            <a:off x="5952565" y="5806440"/>
            <a:ext cx="587367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i="1">
                <a:solidFill>
                  <a:srgbClr val="0070C0"/>
                </a:solidFill>
                <a:effectLst/>
              </a:rPr>
              <a:t>ACCELERATING TO THE NAVY &amp; MARINE CORPS AFTER NEXT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2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4286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685739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02860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371478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-16724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7030A0"/>
                </a:solidFill>
                <a:latin typeface="+mn-lt"/>
              </a:rPr>
              <a:t>CUI//DISTRO D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0859" y="138048"/>
            <a:ext cx="2181141" cy="97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0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481002"/>
            <a:ext cx="812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2540000" y="6481001"/>
            <a:ext cx="711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</a:rPr>
              <a:t>DISTRIBUTION D. Distribution authorized to Department of Defense and U.S. DoD contractors only (Critical Technology). Other request for this document shall be referred to ONR</a:t>
            </a:r>
            <a:r>
              <a:rPr lang="en-US" sz="1000" baseline="0">
                <a:solidFill>
                  <a:schemeClr val="tx1"/>
                </a:solidFill>
              </a:rPr>
              <a:t> Global</a:t>
            </a:r>
            <a:r>
              <a:rPr lang="en-US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 rot="16200000" flipH="1">
            <a:off x="3390900" y="3695700"/>
            <a:ext cx="5410200" cy="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Line 20"/>
          <p:cNvSpPr>
            <a:spLocks noChangeShapeType="1"/>
          </p:cNvSpPr>
          <p:nvPr userDrawn="1"/>
        </p:nvSpPr>
        <p:spPr bwMode="auto">
          <a:xfrm rot="16200000" flipV="1">
            <a:off x="5994401" y="-1855142"/>
            <a:ext cx="0" cy="1148080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67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083" y="158580"/>
            <a:ext cx="3603024" cy="1213020"/>
          </a:xfrm>
          <a:prstGeom prst="rect">
            <a:avLst/>
          </a:prstGeom>
        </p:spPr>
      </p:pic>
      <p:sp>
        <p:nvSpPr>
          <p:cNvPr id="10" name="Accelerating tagline"/>
          <p:cNvSpPr txBox="1"/>
          <p:nvPr userDrawn="1"/>
        </p:nvSpPr>
        <p:spPr>
          <a:xfrm>
            <a:off x="5952565" y="5806440"/>
            <a:ext cx="587367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68578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75" b="1" i="1">
                <a:solidFill>
                  <a:srgbClr val="0070C0"/>
                </a:solidFill>
                <a:effectLst/>
              </a:rPr>
              <a:t>ACCELERATING TO THE NAVY &amp; MARINE CORPS AFTER NEXT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5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42861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685722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028582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371444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835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29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image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64083" y="158580"/>
            <a:ext cx="3603024" cy="121302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4165603" y="1905000"/>
            <a:ext cx="7600951" cy="35052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147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914296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371443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1828592" indent="0" algn="r">
              <a:buNone/>
              <a:defRPr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6313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9200" y="6481006"/>
            <a:ext cx="812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2540000" y="6481005"/>
            <a:ext cx="711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tx1"/>
                </a:solidFill>
              </a:rPr>
              <a:t>DISTRIBUTION D. Distribution authorized to Department of Defense and U.S. DoD contractors only (Critical Technology). Other request for this document shall be referred to ONR</a:t>
            </a:r>
            <a:r>
              <a:rPr lang="en-US" sz="1000" baseline="0">
                <a:solidFill>
                  <a:schemeClr val="tx1"/>
                </a:solidFill>
              </a:rPr>
              <a:t> Global</a:t>
            </a:r>
            <a:r>
              <a:rPr lang="en-US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 rot="16200000" flipH="1">
            <a:off x="3390900" y="3695700"/>
            <a:ext cx="5410200" cy="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Line 20"/>
          <p:cNvSpPr>
            <a:spLocks noChangeShapeType="1"/>
          </p:cNvSpPr>
          <p:nvPr userDrawn="1"/>
        </p:nvSpPr>
        <p:spPr bwMode="auto">
          <a:xfrm rot="16200000" flipV="1">
            <a:off x="5994401" y="-1855142"/>
            <a:ext cx="0" cy="11480800"/>
          </a:xfrm>
          <a:prstGeom prst="line">
            <a:avLst/>
          </a:prstGeom>
          <a:noFill/>
          <a:ln w="38100">
            <a:solidFill>
              <a:srgbClr val="08297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524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3"/>
            <a:ext cx="10972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81004"/>
            <a:ext cx="38608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21430-9728-462F-A924-938A6AD51736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583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EB8D7-3B45-4405-8DE1-5C11F9F7446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3E3972-79C9-E4BD-97ED-AA379C797F05}"/>
              </a:ext>
            </a:extLst>
          </p:cNvPr>
          <p:cNvCxnSpPr>
            <a:cxnSpLocks/>
          </p:cNvCxnSpPr>
          <p:nvPr userDrawn="1"/>
        </p:nvCxnSpPr>
        <p:spPr>
          <a:xfrm>
            <a:off x="2182707" y="989584"/>
            <a:ext cx="8867095" cy="10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74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" y="283"/>
            <a:ext cx="12190993" cy="685743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048000" y="0"/>
            <a:ext cx="8534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2092572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7200" y="6481004"/>
            <a:ext cx="2844800" cy="365125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defTabSz="685739"/>
            <a:fld id="{C048AFE0-C030-4AEB-A496-7DE826157CC3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 defTabSz="685739"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047479" y="-60533"/>
            <a:ext cx="2097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itchFamily="18" charset="0"/>
              </a:rPr>
              <a:t>CUI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5047479" y="6601526"/>
            <a:ext cx="2097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itchFamily="18" charset="0"/>
              </a:rPr>
              <a:t>CUI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71" y="138048"/>
            <a:ext cx="1645453" cy="738627"/>
          </a:xfrm>
          <a:prstGeom prst="rect">
            <a:avLst/>
          </a:prstGeom>
        </p:spPr>
      </p:pic>
      <p:pic>
        <p:nvPicPr>
          <p:cNvPr id="15" name="Picture 2" descr="image001"/>
          <p:cNvPicPr>
            <a:picLocks noChangeAspect="1" noChangeArrowheads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97924" y="-42930"/>
            <a:ext cx="1076460" cy="1076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90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effectLst/>
          <a:latin typeface="+mn-lt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5pPr>
      <a:lvl6pPr marL="342869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739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608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478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53" indent="-257153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557162" indent="-214293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857174" indent="-171435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43" indent="-171435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13" indent="-171435" algn="l" rtl="0" eaLnBrk="1" fontAlgn="base" hangingPunct="1">
        <a:spcBef>
          <a:spcPct val="20000"/>
        </a:spcBef>
        <a:spcAft>
          <a:spcPct val="0"/>
        </a:spcAft>
        <a:buClrTx/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782" indent="-171435" algn="l" defTabSz="68573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51" indent="-171435" algn="l" defTabSz="68573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21" indent="-171435" algn="l" defTabSz="68573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391" indent="-171435" algn="l" defTabSz="68573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69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39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08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78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48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17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86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56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9">
            <a:extLst>
              <a:ext uri="{FF2B5EF4-FFF2-40B4-BE49-F238E27FC236}">
                <a16:creationId xmlns:a16="http://schemas.microsoft.com/office/drawing/2014/main" id="{224E3CEB-A6E6-0368-5763-D1CB5C7CA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031" y="991023"/>
            <a:ext cx="1199193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Line 26">
            <a:extLst>
              <a:ext uri="{FF2B5EF4-FFF2-40B4-BE49-F238E27FC236}">
                <a16:creationId xmlns:a16="http://schemas.microsoft.com/office/drawing/2014/main" id="{837218BB-A463-0CAF-4837-F07A8BB0F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021867"/>
            <a:ext cx="4781" cy="557710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BEDCB-5B1A-A98C-99F9-633A5A7F7CBC}"/>
              </a:ext>
            </a:extLst>
          </p:cNvPr>
          <p:cNvSpPr/>
          <p:nvPr/>
        </p:nvSpPr>
        <p:spPr>
          <a:xfrm>
            <a:off x="9565906" y="-22544"/>
            <a:ext cx="2402238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buNone/>
              <a:tabLst/>
              <a:defRPr/>
            </a:pPr>
            <a:r>
              <a:rPr sz="1100" b="1" i="1">
                <a:latin typeface="Calibri"/>
              </a:rPr>
              <a:t>Riaan Gouws</a:t>
            </a:r>
          </a:p>
          <a:p>
            <a:pPr marL="0" indent="0">
              <a:buNone/>
            </a:pPr>
            <a:r>
              <a:rPr sz="1100" b="1" i="1">
                <a:latin typeface="Calibri"/>
              </a:rPr>
              <a:t>Forward Edge-AI, Inc.</a:t>
            </a:r>
          </a:p>
          <a:p>
            <a:pPr marL="0" indent="0">
              <a:buNone/>
            </a:pPr>
            <a:r>
              <a:rPr sz="1100" b="1" i="1">
                <a:latin typeface="Calibri"/>
              </a:rPr>
              <a:t>Email: riaan@forwardedge.ai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048C514-2460-943F-3B46-7B29E7B4C7B7}"/>
              </a:ext>
            </a:extLst>
          </p:cNvPr>
          <p:cNvSpPr>
            <a:spLocks noGrp="1"/>
          </p:cNvSpPr>
          <p:nvPr/>
        </p:nvSpPr>
        <p:spPr bwMode="auto">
          <a:xfrm>
            <a:off x="2906804" y="325438"/>
            <a:ext cx="6400800" cy="495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2"/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  <a:cs typeface="Arial" pitchFamily="34" charset="0"/>
              </a:defRPr>
            </a:lvl5pPr>
            <a:lvl6pPr marL="342869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685739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1028608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1371478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buNone/>
              <a:tabLst/>
              <a:defRPr/>
            </a:pPr>
            <a:r>
              <a:rPr sz="2400" b="1">
                <a:solidFill>
                  <a:srgbClr val="1F497D"/>
                </a:solidFill>
                <a:latin typeface="Calibri"/>
              </a:rPr>
              <a:t>(U) Quantum-Safe Maritime Cybersecurity - Isidore Quantum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0BE4C7B-F31D-9007-09DF-8B44F3EFBF88}"/>
              </a:ext>
            </a:extLst>
          </p:cNvPr>
          <p:cNvSpPr txBox="1"/>
          <p:nvPr/>
        </p:nvSpPr>
        <p:spPr>
          <a:xfrm>
            <a:off x="6205854" y="1125780"/>
            <a:ext cx="5886107" cy="2554545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buNone/>
              <a:tabLst/>
              <a:defRPr/>
            </a:pPr>
            <a:r>
              <a:rPr sz="2000" b="1" i="1">
                <a:latin typeface="Arial"/>
              </a:rPr>
              <a:t>[Insert Tech Picture Here]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08E1486E-2263-1D34-98CE-E8AA48F90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31" y="4029363"/>
            <a:ext cx="5890896" cy="2355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227" tIns="46114" rIns="92227" bIns="46114" anchor="t">
            <a:spAutoFit/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9pPr>
          </a:lstStyle>
          <a:p>
            <a:pPr marL="0" marR="0" lvl="0" indent="0" algn="l" defTabSz="922338" rtl="0" eaLnBrk="1" fontAlgn="auto" latinLnBrk="0" hangingPunct="1">
              <a:buNone/>
              <a:tabLst/>
              <a:defRPr/>
            </a:pPr>
            <a:r>
              <a:rPr sz="1050" b="1" u="sng" dirty="0">
                <a:latin typeface="Arial"/>
              </a:rPr>
              <a:t>Operational Relevance:</a:t>
            </a:r>
            <a:br>
              <a:rPr lang="en-US" sz="1050" b="1" u="sng" dirty="0">
                <a:latin typeface="Arial"/>
              </a:rPr>
            </a:br>
            <a:endParaRPr sz="1050" b="1" u="sng" dirty="0">
              <a:latin typeface="Arial"/>
            </a:endParaRP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Demonstrate and validate a quantum-resilient cybersecurity and communication architecture in an operational naval environment.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Showcasing resilience against future quantum threats.</a:t>
            </a:r>
            <a:endParaRPr lang="en-US" sz="1050" dirty="0">
              <a:latin typeface="Arial"/>
            </a:endParaRPr>
          </a:p>
          <a:p>
            <a:pPr marL="106680" algn="l"/>
            <a:endParaRPr lang="en-US" sz="1050" dirty="0">
              <a:latin typeface="Arial"/>
            </a:endParaRPr>
          </a:p>
          <a:p>
            <a:pPr marL="106680" algn="l"/>
            <a:endParaRPr lang="en-US" sz="1050" dirty="0">
              <a:latin typeface="Arial"/>
            </a:endParaRPr>
          </a:p>
          <a:p>
            <a:pPr marL="0" indent="0">
              <a:buNone/>
            </a:pPr>
            <a:endParaRPr lang="en-US" sz="1050" dirty="0">
              <a:latin typeface="Arial"/>
            </a:endParaRPr>
          </a:p>
          <a:p>
            <a:pPr marL="0" indent="0">
              <a:buNone/>
            </a:pPr>
            <a:endParaRPr lang="en-US" sz="1050" b="1" u="sng" dirty="0">
              <a:latin typeface="Arial"/>
            </a:endParaRPr>
          </a:p>
          <a:p>
            <a:pPr marL="0" indent="0" algn="l">
              <a:buNone/>
            </a:pPr>
            <a:r>
              <a:rPr sz="1050" b="1" u="sng" dirty="0">
                <a:latin typeface="Arial"/>
              </a:rPr>
              <a:t>Related Efforts:</a:t>
            </a:r>
            <a:br>
              <a:rPr lang="en-US" sz="1050" b="1" u="sng" dirty="0">
                <a:latin typeface="Arial"/>
              </a:rPr>
            </a:br>
            <a:endParaRPr sz="1050" b="1" u="sng" dirty="0">
              <a:latin typeface="Arial"/>
            </a:endParaRP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SBIR Phase II US Air Force FA864923P0006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US Navy N6833524C0170 (Phase I) and N6833525C0170 (Phase II)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Experimentation sponsor: United States Pacific Fleet (PACFLT)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B1EBAAC9-E646-9594-2788-6232E1976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030" y="3883279"/>
            <a:ext cx="6022933" cy="2362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227" tIns="46114" rIns="92227" bIns="46114" anchor="t">
            <a:spAutoFit/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buNone/>
              <a:tabLst/>
              <a:defRPr/>
            </a:pPr>
            <a:r>
              <a:rPr sz="1100" b="1" u="sng" dirty="0">
                <a:latin typeface="Arial"/>
              </a:rPr>
              <a:t>TOEE Objectives</a:t>
            </a:r>
            <a:endParaRPr kumimoji="0" lang="en-US" altLang="en-US" sz="110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indent="0" algn="l">
              <a:buNone/>
            </a:pPr>
            <a:r>
              <a:rPr sz="1050" b="1" u="sng" dirty="0">
                <a:latin typeface="Arial"/>
              </a:rPr>
              <a:t>Experimentation Objective:</a:t>
            </a:r>
            <a:br>
              <a:rPr lang="en-US" sz="1050" b="1" u="sng" dirty="0">
                <a:latin typeface="Arial"/>
              </a:rPr>
            </a:br>
            <a:endParaRPr sz="1050" b="1" u="sng" dirty="0">
              <a:latin typeface="Arial"/>
            </a:endParaRP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Validate a quantum-safe cybersecurity solution in an operational naval environment.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Demonstrate resilience against both current cyber threats and future quantum-enabled adversaries.</a:t>
            </a:r>
            <a:br>
              <a:rPr lang="en-US" sz="1050" dirty="0">
                <a:latin typeface="Arial"/>
              </a:rPr>
            </a:br>
            <a:br>
              <a:rPr lang="en-US" sz="1050" dirty="0">
                <a:latin typeface="Arial"/>
              </a:rPr>
            </a:br>
            <a:br>
              <a:rPr lang="en-US" sz="1050" dirty="0">
                <a:latin typeface="Arial"/>
              </a:rPr>
            </a:br>
            <a:endParaRPr sz="1050" dirty="0">
              <a:latin typeface="Arial"/>
            </a:endParaRPr>
          </a:p>
          <a:p>
            <a:pPr marL="0" indent="0" algn="l">
              <a:buNone/>
            </a:pPr>
            <a:r>
              <a:rPr sz="1050" b="1" u="sng" dirty="0">
                <a:latin typeface="Arial"/>
              </a:rPr>
              <a:t>Team: Organizations and team members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Forward Edge-AI, Inc.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Riaan Gouws (riaan@forwardedge.ai)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Brandon Chapman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Kevin Jackson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0F676259-8779-ED08-EC66-FAE8A1973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31" y="1061013"/>
            <a:ext cx="5890896" cy="1224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227" tIns="46114" rIns="92227" bIns="46114" anchor="t">
            <a:spAutoFit/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charset="0"/>
                <a:ea typeface="+mn-ea"/>
                <a:cs typeface="Times New Roman" pitchFamily="18" charset="0"/>
              </a:defRPr>
            </a:lvl9pPr>
          </a:lstStyle>
          <a:p>
            <a:pPr marL="0" marR="0" lvl="0" indent="0" algn="l" defTabSz="922338" rtl="0" eaLnBrk="1" fontAlgn="auto" latinLnBrk="0" hangingPunct="1">
              <a:buNone/>
              <a:tabLst/>
              <a:defRPr/>
            </a:pPr>
            <a:r>
              <a:rPr sz="1050" b="1" u="sng" dirty="0">
                <a:latin typeface="Arial"/>
              </a:rPr>
              <a:t>Technology Description			TRL: 8</a:t>
            </a:r>
            <a:br>
              <a:rPr lang="en-US" sz="1050" b="1" u="sng" dirty="0">
                <a:latin typeface="Arial"/>
              </a:rPr>
            </a:br>
            <a:endParaRPr kumimoji="0" lang="en-US" altLang="en-US" sz="105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Validate post-quantum encryption platform for naval operations across various communications systems.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Isidore Quantum is FIPS 140-3 compliant and can operate on any network.</a:t>
            </a:r>
          </a:p>
          <a:p>
            <a:pPr marL="213360" indent="-106680" algn="l">
              <a:buChar char="•"/>
            </a:pPr>
            <a:r>
              <a:rPr sz="1050" dirty="0">
                <a:latin typeface="Arial"/>
              </a:rPr>
              <a:t>Provides immediate, all-in-one cybersecurity and Post-Quantum Cryptography (PQC) solution.</a:t>
            </a:r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362AB89F-9898-2D15-CB8F-148BA06B4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031" y="3826081"/>
            <a:ext cx="1199193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A008D-4767-6038-981B-4CBE023148B8}"/>
              </a:ext>
            </a:extLst>
          </p:cNvPr>
          <p:cNvSpPr txBox="1"/>
          <p:nvPr/>
        </p:nvSpPr>
        <p:spPr>
          <a:xfrm>
            <a:off x="7670057" y="6610615"/>
            <a:ext cx="45127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buNone/>
              <a:tabLst/>
              <a:defRPr/>
            </a:pPr>
            <a:r>
              <a:rPr sz="1000">
                <a:latin typeface="Calibri"/>
              </a:rPr>
              <a:t>This quad is in response to: Valiant Shield 2026</a:t>
            </a:r>
          </a:p>
        </p:txBody>
      </p:sp>
    </p:spTree>
    <p:extLst>
      <p:ext uri="{BB962C8B-B14F-4D97-AF65-F5344CB8AC3E}">
        <p14:creationId xmlns:p14="http://schemas.microsoft.com/office/powerpoint/2010/main" val="2144586249"/>
      </p:ext>
    </p:extLst>
  </p:cSld>
  <p:clrMapOvr>
    <a:masterClrMapping/>
  </p:clrMapOvr>
</p:sld>
</file>

<file path=ppt/theme/theme1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1_Theme1</vt:lpstr>
      <vt:lpstr>PowerPoint Presentation</vt:lpstr>
    </vt:vector>
  </TitlesOfParts>
  <Company>HPES NMCI 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Hendricks, Troy T CIV USN ONR GLOBAL LONDON (USA)</dc:creator>
  <cp:lastModifiedBy>Mark Cetola</cp:lastModifiedBy>
  <cp:revision>2</cp:revision>
  <dcterms:created xsi:type="dcterms:W3CDTF">2025-10-07T20:39:20Z</dcterms:created>
  <dcterms:modified xsi:type="dcterms:W3CDTF">2025-11-20T20:28:06Z</dcterms:modified>
</cp:coreProperties>
</file>