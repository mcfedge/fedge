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7"/>
  </p:notesMasterIdLst>
  <p:handoutMasterIdLst>
    <p:handoutMasterId r:id="rId8"/>
  </p:handoutMasterIdLst>
  <p:sldIdLst>
    <p:sldId id="323" r:id="rId5"/>
    <p:sldId id="325" r:id="rId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24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FF99"/>
    <a:srgbClr val="FFFF66"/>
    <a:srgbClr val="00FF0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6" autoAdjust="0"/>
    <p:restoredTop sz="94660"/>
  </p:normalViewPr>
  <p:slideViewPr>
    <p:cSldViewPr>
      <p:cViewPr varScale="1">
        <p:scale>
          <a:sx n="77" d="100"/>
          <a:sy n="77" d="100"/>
        </p:scale>
        <p:origin x="1176" y="72"/>
      </p:cViewPr>
      <p:guideLst>
        <p:guide orient="horz" pos="624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8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DE0A5-3EE8-71CA-F300-2CD832ECE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DCFD5-FB91-EB78-4028-AB2A657069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A26B39-CC95-4B97-ABB2-CCCF3D44B32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094B7-0C33-D78F-9C25-5E9AFAF246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B2952-822D-A39D-1CA6-2D3A2F13E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7B06A87-2605-4425-B540-5AB482E7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19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43FD115E-2743-42BB-B965-D4D812AB6DF1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FCCCC24-4F76-4E8F-855B-6B69FFDF8D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C2228D-0BB2-47AF-81B7-3C5A317198C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577E9-CF65-4ACE-B227-6A6E176007E1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39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111125" y="862013"/>
            <a:ext cx="8801100" cy="90487"/>
            <a:chOff x="471" y="690"/>
            <a:chExt cx="5016" cy="189"/>
          </a:xfrm>
        </p:grpSpPr>
        <p:grpSp>
          <p:nvGrpSpPr>
            <p:cNvPr id="1033" name="Group 3"/>
            <p:cNvGrpSpPr>
              <a:grpSpLocks/>
            </p:cNvGrpSpPr>
            <p:nvPr/>
          </p:nvGrpSpPr>
          <p:grpSpPr bwMode="auto">
            <a:xfrm>
              <a:off x="5369" y="690"/>
              <a:ext cx="118" cy="189"/>
              <a:chOff x="5369" y="690"/>
              <a:chExt cx="118" cy="189"/>
            </a:xfrm>
          </p:grpSpPr>
          <p:sp>
            <p:nvSpPr>
              <p:cNvPr id="1048" name="Rectangle 4"/>
              <p:cNvSpPr>
                <a:spLocks noChangeArrowheads="1"/>
              </p:cNvSpPr>
              <p:nvPr/>
            </p:nvSpPr>
            <p:spPr bwMode="auto">
              <a:xfrm>
                <a:off x="5459" y="690"/>
                <a:ext cx="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9" name="Rectangle 5"/>
              <p:cNvSpPr>
                <a:spLocks noChangeArrowheads="1"/>
              </p:cNvSpPr>
              <p:nvPr/>
            </p:nvSpPr>
            <p:spPr bwMode="auto">
              <a:xfrm>
                <a:off x="5369" y="690"/>
                <a:ext cx="5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4" name="Group 6"/>
            <p:cNvGrpSpPr>
              <a:grpSpLocks/>
            </p:cNvGrpSpPr>
            <p:nvPr/>
          </p:nvGrpSpPr>
          <p:grpSpPr bwMode="auto">
            <a:xfrm>
              <a:off x="5074" y="690"/>
              <a:ext cx="251" cy="189"/>
              <a:chOff x="5074" y="690"/>
              <a:chExt cx="251" cy="189"/>
            </a:xfrm>
          </p:grpSpPr>
          <p:sp>
            <p:nvSpPr>
              <p:cNvPr id="1046" name="Rectangle 7"/>
              <p:cNvSpPr>
                <a:spLocks noChangeArrowheads="1"/>
              </p:cNvSpPr>
              <p:nvPr/>
            </p:nvSpPr>
            <p:spPr bwMode="auto">
              <a:xfrm>
                <a:off x="5236" y="690"/>
                <a:ext cx="8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7" name="Rectangle 8"/>
              <p:cNvSpPr>
                <a:spLocks noChangeArrowheads="1"/>
              </p:cNvSpPr>
              <p:nvPr/>
            </p:nvSpPr>
            <p:spPr bwMode="auto">
              <a:xfrm>
                <a:off x="5074" y="690"/>
                <a:ext cx="11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>
              <a:off x="4667" y="690"/>
              <a:ext cx="367" cy="189"/>
              <a:chOff x="4667" y="690"/>
              <a:chExt cx="367" cy="189"/>
            </a:xfrm>
          </p:grpSpPr>
          <p:sp>
            <p:nvSpPr>
              <p:cNvPr id="1044" name="Rectangle 10"/>
              <p:cNvSpPr>
                <a:spLocks noChangeArrowheads="1"/>
              </p:cNvSpPr>
              <p:nvPr/>
            </p:nvSpPr>
            <p:spPr bwMode="auto">
              <a:xfrm>
                <a:off x="4887" y="690"/>
                <a:ext cx="14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5" name="Rectangle 11"/>
              <p:cNvSpPr>
                <a:spLocks noChangeArrowheads="1"/>
              </p:cNvSpPr>
              <p:nvPr/>
            </p:nvSpPr>
            <p:spPr bwMode="auto">
              <a:xfrm>
                <a:off x="4667" y="690"/>
                <a:ext cx="176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/>
          </p:nvGrpSpPr>
          <p:grpSpPr bwMode="auto">
            <a:xfrm>
              <a:off x="3494" y="690"/>
              <a:ext cx="1131" cy="189"/>
              <a:chOff x="3494" y="690"/>
              <a:chExt cx="1131" cy="189"/>
            </a:xfrm>
          </p:grpSpPr>
          <p:sp>
            <p:nvSpPr>
              <p:cNvPr id="1040" name="Rectangle 13"/>
              <p:cNvSpPr>
                <a:spLocks noChangeArrowheads="1"/>
              </p:cNvSpPr>
              <p:nvPr/>
            </p:nvSpPr>
            <p:spPr bwMode="auto">
              <a:xfrm>
                <a:off x="3848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1" name="Rectangle 14"/>
              <p:cNvSpPr>
                <a:spLocks noChangeArrowheads="1"/>
              </p:cNvSpPr>
              <p:nvPr/>
            </p:nvSpPr>
            <p:spPr bwMode="auto">
              <a:xfrm>
                <a:off x="4417" y="690"/>
                <a:ext cx="20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2" name="Rectangle 15"/>
              <p:cNvSpPr>
                <a:spLocks noChangeArrowheads="1"/>
              </p:cNvSpPr>
              <p:nvPr/>
            </p:nvSpPr>
            <p:spPr bwMode="auto">
              <a:xfrm>
                <a:off x="4140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3" name="Rectangle 16"/>
              <p:cNvSpPr>
                <a:spLocks noChangeArrowheads="1"/>
              </p:cNvSpPr>
              <p:nvPr/>
            </p:nvSpPr>
            <p:spPr bwMode="auto">
              <a:xfrm>
                <a:off x="3494" y="690"/>
                <a:ext cx="29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7" name="Group 17"/>
            <p:cNvGrpSpPr>
              <a:grpSpLocks/>
            </p:cNvGrpSpPr>
            <p:nvPr/>
          </p:nvGrpSpPr>
          <p:grpSpPr bwMode="auto">
            <a:xfrm>
              <a:off x="471" y="690"/>
              <a:ext cx="2985" cy="189"/>
              <a:chOff x="471" y="690"/>
              <a:chExt cx="2985" cy="189"/>
            </a:xfrm>
          </p:grpSpPr>
          <p:sp>
            <p:nvSpPr>
              <p:cNvPr id="1038" name="Rectangle 18"/>
              <p:cNvSpPr>
                <a:spLocks noChangeArrowheads="1"/>
              </p:cNvSpPr>
              <p:nvPr/>
            </p:nvSpPr>
            <p:spPr bwMode="auto">
              <a:xfrm>
                <a:off x="3126" y="690"/>
                <a:ext cx="3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39" name="Rectangle 19"/>
              <p:cNvSpPr>
                <a:spLocks noChangeArrowheads="1"/>
              </p:cNvSpPr>
              <p:nvPr/>
            </p:nvSpPr>
            <p:spPr bwMode="auto">
              <a:xfrm>
                <a:off x="471" y="690"/>
                <a:ext cx="261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</p:grpSp>
      <p:sp>
        <p:nvSpPr>
          <p:cNvPr id="1027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774700" y="257175"/>
            <a:ext cx="77724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1775" y="1111250"/>
            <a:ext cx="8680450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382" name="Rectangle 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55038" y="6432550"/>
            <a:ext cx="588962" cy="4254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45720" tIns="46038" rIns="45720" bIns="46038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2800" b="1">
                <a:latin typeface="Arial Narrow" panose="020B0606020202030204" pitchFamily="34" charset="0"/>
              </a:defRPr>
            </a:lvl1pPr>
          </a:lstStyle>
          <a:p>
            <a:fld id="{11C44B74-F50D-483A-99CB-8A3D7FFC0A8F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  <p:grpSp>
        <p:nvGrpSpPr>
          <p:cNvPr id="1030" name="Group 23"/>
          <p:cNvGrpSpPr>
            <a:grpSpLocks/>
          </p:cNvGrpSpPr>
          <p:nvPr userDrawn="1"/>
        </p:nvGrpSpPr>
        <p:grpSpPr bwMode="auto">
          <a:xfrm>
            <a:off x="15875" y="0"/>
            <a:ext cx="822325" cy="822325"/>
            <a:chOff x="10" y="133"/>
            <a:chExt cx="518" cy="518"/>
          </a:xfrm>
        </p:grpSpPr>
        <p:sp>
          <p:nvSpPr>
            <p:cNvPr id="1031" name="Oval 24"/>
            <p:cNvSpPr>
              <a:spLocks noChangeArrowheads="1"/>
            </p:cNvSpPr>
            <p:nvPr userDrawn="1"/>
          </p:nvSpPr>
          <p:spPr bwMode="auto">
            <a:xfrm>
              <a:off x="10" y="133"/>
              <a:ext cx="518" cy="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pic>
          <p:nvPicPr>
            <p:cNvPr id="1032" name="Picture 2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0" y="180"/>
              <a:ext cx="46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3076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990600"/>
            <a:ext cx="45720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Description </a:t>
            </a:r>
            <a:r>
              <a:rPr lang="en-US" altLang="en-US" sz="1600" b="0" dirty="0"/>
              <a:t>1 to 2 sentences or bullets, benefit to the warfighter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Objective </a:t>
            </a:r>
            <a:r>
              <a:rPr lang="en-US" altLang="en-US" sz="1600" b="0" dirty="0"/>
              <a:t>What will be accomplished in the experiment during the exercise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0" dirty="0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0" y="3524250"/>
            <a:ext cx="432276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Availability date: </a:t>
            </a:r>
            <a:r>
              <a:rPr lang="en-US" altLang="en-US" sz="1600" b="0" dirty="0"/>
              <a:t>Anticipated date that the technology/concept will be ready to deploy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Program risks / impact: </a:t>
            </a:r>
            <a:r>
              <a:rPr lang="en-US" altLang="en-US" sz="1600" b="0" dirty="0"/>
              <a:t>Potential risks to participation in BK26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Geographical domain:</a:t>
            </a:r>
            <a:r>
              <a:rPr lang="en-US" altLang="en-US" sz="1600" b="0" dirty="0"/>
              <a:t> Maritime, Air, Land, Undersea, Cyber, </a:t>
            </a:r>
            <a:r>
              <a:rPr lang="en-US" altLang="en-US" sz="1600" b="0" dirty="0" err="1"/>
              <a:t>Comms</a:t>
            </a:r>
            <a:r>
              <a:rPr lang="en-US" altLang="en-US" sz="1600" b="0" dirty="0"/>
              <a:t>, EW, etc.</a:t>
            </a:r>
            <a:endParaRPr lang="en-US" altLang="en-US" sz="16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Recommended host unit: </a:t>
            </a:r>
            <a:r>
              <a:rPr lang="en-US" altLang="en-US" sz="1600" b="0" dirty="0"/>
              <a:t>Ex. USS ESSEX, 3d MLR, 1MDTF, JTF HQ, could include multiple options</a:t>
            </a:r>
          </a:p>
        </p:txBody>
      </p:sp>
      <p:sp>
        <p:nvSpPr>
          <p:cNvPr id="3080" name="Text Box 6"/>
          <p:cNvSpPr txBox="1">
            <a:spLocks noChangeArrowheads="1"/>
          </p:cNvSpPr>
          <p:nvPr/>
        </p:nvSpPr>
        <p:spPr bwMode="auto">
          <a:xfrm>
            <a:off x="4648200" y="3524250"/>
            <a:ext cx="434975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Experimentation sponsor: </a:t>
            </a:r>
            <a:r>
              <a:rPr lang="en-US" altLang="en-US" sz="1600" b="0" dirty="0"/>
              <a:t>INDOPACOM  or IPC Service Component coordinating host unit/exercise support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Funding status: </a:t>
            </a:r>
            <a:r>
              <a:rPr lang="en-US" altLang="en-US" sz="1600" b="0" dirty="0"/>
              <a:t>Accurate statement of funding for participation. If not yet funded, describe funding strategy.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(U) POC Information: </a:t>
            </a:r>
            <a:r>
              <a:rPr lang="en-US" altLang="en-US" sz="1600" b="0" dirty="0"/>
              <a:t>Name and contact info for tech, BD, gov’t, etc. (NIPR, SIPR, and TEL)</a:t>
            </a:r>
          </a:p>
        </p:txBody>
      </p:sp>
      <p:sp>
        <p:nvSpPr>
          <p:cNvPr id="3081" name="TextBox 13"/>
          <p:cNvSpPr txBox="1">
            <a:spLocks noChangeArrowheads="1"/>
          </p:cNvSpPr>
          <p:nvPr/>
        </p:nvSpPr>
        <p:spPr bwMode="auto">
          <a:xfrm>
            <a:off x="1143000" y="3810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(U) Experiment Title </a:t>
            </a:r>
          </a:p>
        </p:txBody>
      </p:sp>
      <p:sp>
        <p:nvSpPr>
          <p:cNvPr id="3082" name="AutoShape 16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34925" y="-76200"/>
            <a:ext cx="54102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3083" name="AutoShape 18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127000" y="-2163763"/>
            <a:ext cx="5410200" cy="451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3084" name="TextBox 12"/>
          <p:cNvSpPr txBox="1">
            <a:spLocks noChangeArrowheads="1"/>
          </p:cNvSpPr>
          <p:nvPr/>
        </p:nvSpPr>
        <p:spPr bwMode="auto">
          <a:xfrm>
            <a:off x="4724400" y="1851600"/>
            <a:ext cx="41147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Representative image or graphic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OV-1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0" y="3429000"/>
            <a:ext cx="42672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Deployment: </a:t>
            </a:r>
            <a:r>
              <a:rPr lang="en-US" altLang="en-US" sz="1600" b="0" dirty="0"/>
              <a:t>Describe where equipment and personnel need to be located. Describe how and when personnel will deploy and role, e.g. tech </a:t>
            </a:r>
            <a:r>
              <a:rPr lang="en-US" altLang="en-US" sz="1600" b="0" dirty="0" err="1"/>
              <a:t>spt</a:t>
            </a:r>
            <a:r>
              <a:rPr lang="en-US" altLang="en-US" sz="1600" b="0" dirty="0"/>
              <a:t>, data collection, etc.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Other Concerns:</a:t>
            </a:r>
            <a:r>
              <a:rPr lang="en-US" altLang="en-US" sz="1600" b="0" dirty="0"/>
              <a:t> If using non-standard or 1</a:t>
            </a:r>
            <a:r>
              <a:rPr lang="en-US" altLang="en-US" sz="1600" b="0" baseline="30000" dirty="0"/>
              <a:t>st</a:t>
            </a:r>
            <a:r>
              <a:rPr lang="en-US" altLang="en-US" sz="1600" b="0" dirty="0"/>
              <a:t> use </a:t>
            </a:r>
            <a:r>
              <a:rPr lang="en-US" altLang="en-US" sz="1600" b="0" dirty="0" err="1"/>
              <a:t>comms</a:t>
            </a:r>
            <a:r>
              <a:rPr lang="en-US" altLang="en-US" sz="1600" b="0" dirty="0"/>
              <a:t>, list the status of spectrum authorization including DD 1494 submission status or assigned JF 12. Also list things like whether an air worthiness certificate has been obtained, etc.</a:t>
            </a:r>
            <a:endParaRPr lang="en-US" altLang="en-US" sz="1800" b="0" dirty="0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648200" y="3429000"/>
            <a:ext cx="43434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Host component / unit support requested: </a:t>
            </a:r>
            <a:r>
              <a:rPr lang="en-US" altLang="en-US" sz="1600" b="0" dirty="0"/>
              <a:t>State what support you require from the host unit. Include material considerations and what type of integration with the host unit would need to know, e.g. power, water, cyber/IT, </a:t>
            </a:r>
            <a:r>
              <a:rPr lang="en-US" altLang="en-US" sz="1600" b="0" dirty="0" err="1"/>
              <a:t>comms</a:t>
            </a:r>
            <a:r>
              <a:rPr lang="en-US" altLang="en-US" sz="1600" b="0" dirty="0"/>
              <a:t>/RF, manpower (operators), office space (square/cube), storage, etc.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b="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Logistics support </a:t>
            </a:r>
            <a:r>
              <a:rPr lang="en-US" altLang="en-US" sz="1600" b="0" dirty="0"/>
              <a:t>required: transport to/from U.S., transport in country, power generation, etc.</a:t>
            </a:r>
            <a:endParaRPr lang="en-US" altLang="en-US" sz="1600" dirty="0"/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648200" y="990600"/>
            <a:ext cx="4343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Exercise considerations: </a:t>
            </a:r>
            <a:r>
              <a:rPr lang="en-US" altLang="en-US" sz="1600" b="0" dirty="0"/>
              <a:t>Special security requirements, spectrum allocation requirements, safety issues, airspace constraints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b="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Required Exercise events: </a:t>
            </a:r>
            <a:r>
              <a:rPr lang="en-US" altLang="en-US" sz="1600" b="0" dirty="0"/>
              <a:t>Events required to exercise the capability, e.g. “need a hypersonic target”</a:t>
            </a:r>
            <a:endParaRPr lang="en-US" altLang="en-US" sz="1600" dirty="0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0" y="990600"/>
            <a:ext cx="4267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(U) Personnel / equipment list: </a:t>
            </a:r>
            <a:r>
              <a:rPr lang="en-US" altLang="en-US" sz="1600" b="0" dirty="0"/>
              <a:t>Detail estimated number of personnel, equipment description, etc. with emphasis on equipment that has to be deployed to exercise location(s), power requirements, cyber, </a:t>
            </a:r>
            <a:r>
              <a:rPr lang="en-US" altLang="en-US" sz="1600" b="0" dirty="0" err="1"/>
              <a:t>comms</a:t>
            </a:r>
            <a:r>
              <a:rPr lang="en-US" altLang="en-US" sz="1600" b="0" dirty="0"/>
              <a:t>, crypto, IATT/ATO</a:t>
            </a:r>
            <a:endParaRPr lang="en-US" altLang="en-US" sz="1800" b="0" dirty="0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1143000" y="3810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(U) Experiment Title 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CC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2DB9"/>
      </a:accent6>
      <a:hlink>
        <a:srgbClr val="0066FF"/>
      </a:hlink>
      <a:folHlink>
        <a:srgbClr val="9933FF"/>
      </a:folHlink>
    </a:clrScheme>
    <a:fontScheme name="1_Default Design">
      <a:majorFont>
        <a:latin typeface="Arial"/>
        <a:ea typeface=""/>
        <a:cs typeface="Times New Roman"/>
      </a:majorFont>
      <a:minorFont>
        <a:latin typeface="Arial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CC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ADE2"/>
        </a:accent5>
        <a:accent6>
          <a:srgbClr val="2D2DB9"/>
        </a:accent6>
        <a:hlink>
          <a:srgbClr val="0066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95E6504B3ED643A65A84F4D1083CD0" ma:contentTypeVersion="16" ma:contentTypeDescription="Create a new document." ma:contentTypeScope="" ma:versionID="3773e35d476b1eb7c14543b3c1f3d68e">
  <xsd:schema xmlns:xsd="http://www.w3.org/2001/XMLSchema" xmlns:xs="http://www.w3.org/2001/XMLSchema" xmlns:p="http://schemas.microsoft.com/office/2006/metadata/properties" xmlns:ns3="35b9dc04-789e-4307-9dee-1d551e234e24" xmlns:ns4="6f81de39-edad-4716-8a3e-a542477e6317" targetNamespace="http://schemas.microsoft.com/office/2006/metadata/properties" ma:root="true" ma:fieldsID="cce535fddc60042f233b9669af660ce7" ns3:_="" ns4:_="">
    <xsd:import namespace="35b9dc04-789e-4307-9dee-1d551e234e24"/>
    <xsd:import namespace="6f81de39-edad-4716-8a3e-a542477e63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9dc04-789e-4307-9dee-1d551e234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81de39-edad-4716-8a3e-a542477e63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b9dc04-789e-4307-9dee-1d551e234e24" xsi:nil="true"/>
  </documentManagement>
</p:properties>
</file>

<file path=customXml/itemProps1.xml><?xml version="1.0" encoding="utf-8"?>
<ds:datastoreItem xmlns:ds="http://schemas.openxmlformats.org/officeDocument/2006/customXml" ds:itemID="{C84D32C6-27F0-417A-A0E0-4CF12D4D3F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9AD8E8-CE3E-471E-915B-5DB4A683E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b9dc04-789e-4307-9dee-1d551e234e24"/>
    <ds:schemaRef ds:uri="6f81de39-edad-4716-8a3e-a542477e63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55A2C9-CD36-4FCC-A5E3-933FE7B1DAA3}">
  <ds:schemaRefs>
    <ds:schemaRef ds:uri="35b9dc04-789e-4307-9dee-1d551e234e24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6f81de39-edad-4716-8a3e-a542477e631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</TotalTime>
  <Words>438</Words>
  <Application>Microsoft Office PowerPoint</Application>
  <PresentationFormat>On-screen Show (4:3)</PresentationFormat>
  <Paragraphs>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Narrow</vt:lpstr>
      <vt:lpstr>Calibri</vt:lpstr>
      <vt:lpstr>1_Default Design</vt:lpstr>
      <vt:lpstr>PowerPoint Presentation</vt:lpstr>
      <vt:lpstr>PowerPoint Presentation</vt:lpstr>
    </vt:vector>
  </TitlesOfParts>
  <Company>MEC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CG08 Experimentation Workshop Working Groups</dc:title>
  <dc:creator>Bill Spicer</dc:creator>
  <cp:lastModifiedBy>Curet, Ismael CTR INDOPACOM (USA)</cp:lastModifiedBy>
  <cp:revision>103</cp:revision>
  <cp:lastPrinted>2025-07-03T19:53:56Z</cp:lastPrinted>
  <dcterms:created xsi:type="dcterms:W3CDTF">2007-10-03T18:31:48Z</dcterms:created>
  <dcterms:modified xsi:type="dcterms:W3CDTF">2025-07-03T19:54:40Z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0x0101001795E6504B3ED643A65A84F4D1083CD0</vt:lpwstr>
  </property>
</Properties>
</file>